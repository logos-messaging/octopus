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6600" b="1">
                <a:solidFill>
                  <a:srgbClr val="FFFFFF"/>
                </a:solidFill>
                <a:latin typeface="DejaVu Sans"/>
              </a:rPr>
              <a:t>Octopus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1460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0">
                <a:solidFill>
                  <a:srgbClr val="EDE9FE"/>
                </a:solidFill>
                <a:latin typeface="DejaVu Sans"/>
              </a:rPr>
              <a:t>Lend your laptop to your team's CI, over Logos Delivery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56616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DejaVu Sans"/>
              </a:rPr>
              <a:t>Hackathon - Logos Messaging Offsite 2026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EDE9FE"/>
                </a:solidFill>
                <a:latin typeface="DejaVu Sans"/>
              </a:rPr>
              <a:t>Logos Delivery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93776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FFFFFF"/>
                </a:solidFill>
                <a:latin typeface="DejaVu Sans"/>
              </a:rPr>
              <a:t>Fabiana Cecin  ·  Tanya Stubbs  ·  Ivan Folgueira Bande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09728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6D28D9"/>
                </a:solidFill>
                <a:latin typeface="DejaVu Sans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1B1F2A"/>
                </a:solidFill>
                <a:latin typeface="DejaVu Sans"/>
              </a:rPr>
              <a:t>CI minutes cost money, and the laptops sit idle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B6375"/>
                </a:solidFill>
                <a:latin typeface="DejaVu Sans"/>
              </a:rPr>
              <a:t>Octopus · Logos Messaging Offsite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B6375"/>
                </a:solidFill>
                <a:latin typeface="DejaVu Sans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6766560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20040" indent="-320040">
              <a:spcAft>
                <a:spcPts val="1000"/>
              </a:spcAft>
            </a:pPr>
            <a:r>
              <a:rPr sz="2000" b="0">
                <a:solidFill>
                  <a:srgbClr val="1B1F2A"/>
                </a:solidFill>
                <a:latin typeface="DejaVu Sans"/>
              </a:rPr>
              <a:t>•	Hosted runners bill by the minute; macOS minutes cost the most</a:t>
            </a:r>
          </a:p>
          <a:p>
            <a:pPr algn="l" marL="320040" indent="-320040">
              <a:spcAft>
                <a:spcPts val="1000"/>
              </a:spcAft>
            </a:pPr>
            <a:r>
              <a:rPr sz="2000" b="0">
                <a:solidFill>
                  <a:srgbClr val="1B1F2A"/>
                </a:solidFill>
                <a:latin typeface="DejaVu Sans"/>
              </a:rPr>
              <a:t>•	Every developer has a fast machine that is idle most of the day</a:t>
            </a:r>
          </a:p>
          <a:p>
            <a:pPr algn="l" marL="320040" indent="-320040">
              <a:spcAft>
                <a:spcPts val="1000"/>
              </a:spcAft>
            </a:pPr>
            <a:r>
              <a:rPr sz="2000" b="0">
                <a:solidFill>
                  <a:srgbClr val="1B1F2A"/>
                </a:solidFill>
                <a:latin typeface="DejaVu Sans"/>
              </a:rPr>
              <a:t>•	Self-hosted runners exist, but:</a:t>
            </a:r>
          </a:p>
          <a:p>
            <a:pPr algn="l" marL="685800" indent="-274320">
              <a:spcAft>
                <a:spcPts val="1000"/>
              </a:spcAft>
            </a:pPr>
            <a:r>
              <a:rPr sz="1700" b="0">
                <a:solidFill>
                  <a:srgbClr val="5B6375"/>
                </a:solidFill>
                <a:latin typeface="DejaVu Sans"/>
              </a:rPr>
              <a:t>–	registering one needs repo admin rights</a:t>
            </a:r>
          </a:p>
          <a:p>
            <a:pPr algn="l" marL="685800" indent="-274320">
              <a:spcAft>
                <a:spcPts val="1000"/>
              </a:spcAft>
            </a:pPr>
            <a:r>
              <a:rPr sz="1700" b="0">
                <a:solidFill>
                  <a:srgbClr val="5B6375"/>
                </a:solidFill>
                <a:latin typeface="DejaVu Sans"/>
              </a:rPr>
              <a:t>–	an always-on coordinator needs a GitHub admin token on a server</a:t>
            </a:r>
          </a:p>
          <a:p>
            <a:pPr algn="l" marL="320040" indent="-320040">
              <a:spcAft>
                <a:spcPts val="1000"/>
              </a:spcAft>
            </a:pPr>
            <a:r>
              <a:rPr sz="2000" b="0">
                <a:solidFill>
                  <a:srgbClr val="1B1F2A"/>
                </a:solidFill>
                <a:latin typeface="DejaVu Sans"/>
              </a:rPr>
              <a:t>•	We wanted: team machines run the CI, with no server and no stored admin token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0" y="1737360"/>
            <a:ext cx="3840480" cy="1005840"/>
          </a:xfrm>
          <a:prstGeom prst="roundRect">
            <a:avLst/>
          </a:prstGeom>
          <a:solidFill>
            <a:srgbClr val="F1F3F7"/>
          </a:solidFill>
          <a:ln w="15875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B1F2A"/>
                </a:solidFill>
                <a:latin typeface="DejaVu Sans"/>
              </a:rPr>
              <a:t>GitHub-hosted runner</a:t>
            </a:r>
          </a:p>
          <a:p>
            <a:pPr algn="ctr"/>
            <a:r>
              <a:rPr sz="1300" b="0">
                <a:solidFill>
                  <a:srgbClr val="5B6375"/>
                </a:solidFill>
                <a:latin typeface="DejaVu Sans"/>
              </a:rPr>
              <a:t>paid per minute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0" y="3017520"/>
            <a:ext cx="3840480" cy="1005840"/>
          </a:xfrm>
          <a:prstGeom prst="roundRect">
            <a:avLst/>
          </a:prstGeom>
          <a:solidFill>
            <a:srgbClr val="DCFCE7"/>
          </a:solidFill>
          <a:ln w="15875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B1F2A"/>
                </a:solidFill>
                <a:latin typeface="DejaVu Sans"/>
              </a:rPr>
              <a:t>Team laptop</a:t>
            </a:r>
          </a:p>
          <a:p>
            <a:pPr algn="ctr"/>
            <a:r>
              <a:rPr sz="1300" b="0">
                <a:solidFill>
                  <a:srgbClr val="5B6375"/>
                </a:solidFill>
                <a:latin typeface="DejaVu Sans"/>
              </a:rPr>
              <a:t>idle, already trusted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0" y="4297680"/>
            <a:ext cx="3840480" cy="1005840"/>
          </a:xfrm>
          <a:prstGeom prst="roundRect">
            <a:avLst/>
          </a:prstGeom>
          <a:solidFill>
            <a:srgbClr val="F1F3F7"/>
          </a:solidFill>
          <a:ln w="15875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B1F2A"/>
                </a:solidFill>
                <a:latin typeface="DejaVu Sans"/>
              </a:rPr>
              <a:t>Coordinator server</a:t>
            </a:r>
          </a:p>
          <a:p>
            <a:pPr algn="ctr"/>
            <a:r>
              <a:rPr sz="1300" b="0">
                <a:solidFill>
                  <a:srgbClr val="5B6375"/>
                </a:solidFill>
                <a:latin typeface="DejaVu Sans"/>
              </a:rPr>
              <a:t>holds an admin token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09728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6D28D9"/>
                </a:solidFill>
                <a:latin typeface="DejaVu Sans"/>
              </a:rPr>
              <a:t>THE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1B1F2A"/>
                </a:solidFill>
                <a:latin typeface="DejaVu Sans"/>
              </a:rPr>
              <a:t>Logos Delivery is the control plane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B6375"/>
                </a:solidFill>
                <a:latin typeface="DejaVu Sans"/>
              </a:rPr>
              <a:t>Octopus · Logos Messaging Offsite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B6375"/>
                </a:solidFill>
                <a:latin typeface="DejaVu Sans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109728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20040" indent="-320040">
              <a:spcAft>
                <a:spcPts val="1000"/>
              </a:spcAft>
            </a:pPr>
            <a:r>
              <a:rPr sz="2000" b="0">
                <a:solidFill>
                  <a:srgbClr val="1B1F2A"/>
                </a:solidFill>
                <a:latin typeface="DejaVu Sans"/>
              </a:rPr>
              <a:t>•	No coordinator: the team machines and the CI job meet on a Logos Delivery topic</a:t>
            </a:r>
          </a:p>
          <a:p>
            <a:pPr algn="l" marL="320040" indent="-320040">
              <a:spcAft>
                <a:spcPts val="1000"/>
              </a:spcAft>
            </a:pPr>
            <a:r>
              <a:rPr sz="2000" b="0">
                <a:solidFill>
                  <a:srgbClr val="1B1F2A"/>
                </a:solidFill>
                <a:latin typeface="DejaVu Sans"/>
              </a:rPr>
              <a:t>•	Discovery, job assignment, results and live logs all travel over the network</a:t>
            </a:r>
          </a:p>
          <a:p>
            <a:pPr algn="l" marL="320040" indent="-320040">
              <a:spcAft>
                <a:spcPts val="1000"/>
              </a:spcAft>
            </a:pPr>
            <a:r>
              <a:rPr sz="2000" b="0">
                <a:solidFill>
                  <a:srgbClr val="1B1F2A"/>
                </a:solidFill>
                <a:latin typeface="DejaVu Sans"/>
              </a:rPr>
              <a:t>•	GitHub only proves who is asking (OIDC token) — it never gets a runner registration</a:t>
            </a:r>
          </a:p>
          <a:p>
            <a:pPr algn="l" marL="320040" indent="-320040">
              <a:spcAft>
                <a:spcPts val="1000"/>
              </a:spcAft>
            </a:pPr>
            <a:r>
              <a:rPr sz="2000" b="0">
                <a:solidFill>
                  <a:srgbClr val="1B1F2A"/>
                </a:solidFill>
                <a:latin typeface="DejaVu Sans"/>
              </a:rPr>
              <a:t>•	Anything no machine takes, and Windows, falls back to a GitHub-hosted runner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4572000"/>
            <a:ext cx="3108960" cy="1097280"/>
          </a:xfrm>
          <a:prstGeom prst="roundRect">
            <a:avLst/>
          </a:prstGeom>
          <a:solidFill>
            <a:srgbClr val="EDE9FE"/>
          </a:solidFill>
          <a:ln w="15875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B1F2A"/>
                </a:solidFill>
                <a:latin typeface="DejaVu Sans"/>
              </a:rPr>
              <a:t>Discovery</a:t>
            </a:r>
          </a:p>
          <a:p>
            <a:pPr algn="ctr"/>
            <a:r>
              <a:rPr sz="1300" b="0">
                <a:solidFill>
                  <a:srgbClr val="5B6375"/>
                </a:solidFill>
                <a:latin typeface="DejaVu Sans"/>
              </a:rPr>
              <a:t>who is online, which OS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26280" y="4572000"/>
            <a:ext cx="3108960" cy="1097280"/>
          </a:xfrm>
          <a:prstGeom prst="roundRect">
            <a:avLst/>
          </a:prstGeom>
          <a:solidFill>
            <a:srgbClr val="EDE9FE"/>
          </a:solidFill>
          <a:ln w="15875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B1F2A"/>
                </a:solidFill>
                <a:latin typeface="DejaVu Sans"/>
              </a:rPr>
              <a:t>Assignment</a:t>
            </a:r>
          </a:p>
          <a:p>
            <a:pPr algn="ctr"/>
            <a:r>
              <a:rPr sz="1300" b="0">
                <a:solidFill>
                  <a:srgbClr val="5B6375"/>
                </a:solidFill>
                <a:latin typeface="DejaVu Sans"/>
              </a:rPr>
              <a:t>claim · lease · takeover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4572000"/>
            <a:ext cx="3108960" cy="1097280"/>
          </a:xfrm>
          <a:prstGeom prst="roundRect">
            <a:avLst/>
          </a:prstGeom>
          <a:solidFill>
            <a:srgbClr val="EDE9FE"/>
          </a:solidFill>
          <a:ln w="15875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B1F2A"/>
                </a:solidFill>
                <a:latin typeface="DejaVu Sans"/>
              </a:rPr>
              <a:t>Results &amp; logs</a:t>
            </a:r>
          </a:p>
          <a:p>
            <a:pPr algn="ctr"/>
            <a:r>
              <a:rPr sz="1300" b="0">
                <a:solidFill>
                  <a:srgbClr val="5B6375"/>
                </a:solidFill>
                <a:latin typeface="DejaVu Sans"/>
              </a:rPr>
              <a:t>encrypted reply channel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09728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6D28D9"/>
                </a:solidFill>
                <a:latin typeface="DejaVu Sans"/>
              </a:rPr>
              <a:t>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1B1F2A"/>
                </a:solidFill>
                <a:latin typeface="DejaVu Sans"/>
              </a:rPr>
              <a:t>How a CI run reaches a laptop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B6375"/>
                </a:solidFill>
                <a:latin typeface="DejaVu Sans"/>
              </a:rPr>
              <a:t>Octopus · Logos Messaging Offsite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B6375"/>
                </a:solidFill>
                <a:latin typeface="DejaVu Sans"/>
              </a:rPr>
              <a:t>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737360"/>
            <a:ext cx="2377440" cy="1097280"/>
          </a:xfrm>
          <a:prstGeom prst="roundRect">
            <a:avLst/>
          </a:prstGeom>
          <a:solidFill>
            <a:srgbClr val="F1F3F7"/>
          </a:solidFill>
          <a:ln w="15875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B1F2A"/>
                </a:solidFill>
                <a:latin typeface="DejaVu Sans"/>
              </a:rPr>
              <a:t>GitHub</a:t>
            </a:r>
          </a:p>
          <a:p>
            <a:pPr algn="ctr"/>
            <a:r>
              <a:rPr sz="1300" b="0">
                <a:solidFill>
                  <a:srgbClr val="5B6375"/>
                </a:solidFill>
                <a:latin typeface="DejaVu Sans"/>
              </a:rPr>
              <a:t>push / pull request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3931920"/>
            <a:ext cx="2377440" cy="1280160"/>
          </a:xfrm>
          <a:prstGeom prst="roundRect">
            <a:avLst/>
          </a:prstGeom>
          <a:solidFill>
            <a:srgbClr val="F1F3F7"/>
          </a:solidFill>
          <a:ln w="15875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B1F2A"/>
                </a:solidFill>
                <a:latin typeface="DejaVu Sans"/>
              </a:rPr>
              <a:t>submit job</a:t>
            </a:r>
          </a:p>
          <a:p>
            <a:pPr algn="ctr"/>
            <a:r>
              <a:rPr sz="1300" b="0">
                <a:solidFill>
                  <a:srgbClr val="5B6375"/>
                </a:solidFill>
                <a:latin typeface="DejaVu Sans"/>
              </a:rPr>
              <a:t>hosted, cheap Linux</a:t>
            </a:r>
          </a:p>
          <a:p>
            <a:pPr algn="ctr"/>
            <a:r>
              <a:rPr sz="1300" b="0">
                <a:solidFill>
                  <a:srgbClr val="5B6375"/>
                </a:solidFill>
                <a:latin typeface="DejaVu Sans"/>
              </a:rPr>
              <a:t>OIDC token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06240" y="2743200"/>
            <a:ext cx="3291840" cy="1645920"/>
          </a:xfrm>
          <a:prstGeom prst="roundRect">
            <a:avLst/>
          </a:prstGeom>
          <a:solidFill>
            <a:srgbClr val="EDE9FE"/>
          </a:solidFill>
          <a:ln w="15875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B1F2A"/>
                </a:solidFill>
                <a:latin typeface="DejaVu Sans"/>
              </a:rPr>
              <a:t>Logos Delivery</a:t>
            </a:r>
          </a:p>
          <a:p>
            <a:pPr algn="ctr"/>
            <a:r>
              <a:rPr sz="1500" b="0">
                <a:solidFill>
                  <a:srgbClr val="5B6375"/>
                </a:solidFill>
                <a:latin typeface="DejaVu Sans"/>
              </a:rPr>
              <a:t>public logos.test fleet</a:t>
            </a:r>
          </a:p>
          <a:p>
            <a:pPr algn="ctr"/>
            <a:r>
              <a:rPr sz="1500" b="0">
                <a:solidFill>
                  <a:srgbClr val="5B6375"/>
                </a:solidFill>
                <a:latin typeface="DejaVu Sans"/>
              </a:rPr>
              <a:t>topic + encrypted channels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78240" y="1371600"/>
            <a:ext cx="2834640" cy="1097280"/>
          </a:xfrm>
          <a:prstGeom prst="roundRect">
            <a:avLst/>
          </a:prstGeom>
          <a:solidFill>
            <a:srgbClr val="DCFCE7"/>
          </a:solidFill>
          <a:ln w="15875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B1F2A"/>
                </a:solidFill>
                <a:latin typeface="DejaVu Sans"/>
              </a:rPr>
              <a:t>Laptop (macOS)</a:t>
            </a:r>
          </a:p>
          <a:p>
            <a:pPr algn="ctr"/>
            <a:r>
              <a:rPr sz="1300" b="0">
                <a:solidFill>
                  <a:srgbClr val="5B6375"/>
                </a:solidFill>
                <a:latin typeface="DejaVu Sans"/>
              </a:rPr>
              <a:t>octopus ci node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78240" y="3017520"/>
            <a:ext cx="2834640" cy="1097280"/>
          </a:xfrm>
          <a:prstGeom prst="roundRect">
            <a:avLst/>
          </a:prstGeom>
          <a:solidFill>
            <a:srgbClr val="DCFCE7"/>
          </a:solidFill>
          <a:ln w="15875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B1F2A"/>
                </a:solidFill>
                <a:latin typeface="DejaVu Sans"/>
              </a:rPr>
              <a:t>Server (Linux)</a:t>
            </a:r>
          </a:p>
          <a:p>
            <a:pPr algn="ctr"/>
            <a:r>
              <a:rPr sz="1300" b="0">
                <a:solidFill>
                  <a:srgbClr val="5B6375"/>
                </a:solidFill>
                <a:latin typeface="DejaVu Sans"/>
              </a:rPr>
              <a:t>octopus ci node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778240" y="4663440"/>
            <a:ext cx="2834640" cy="1097280"/>
          </a:xfrm>
          <a:prstGeom prst="roundRect">
            <a:avLst/>
          </a:prstGeom>
          <a:solidFill>
            <a:srgbClr val="F1F3F7"/>
          </a:solidFill>
          <a:ln w="15875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B1F2A"/>
                </a:solidFill>
                <a:latin typeface="DejaVu Sans"/>
              </a:rPr>
              <a:t>GitHub-hosted</a:t>
            </a:r>
          </a:p>
          <a:p>
            <a:pPr algn="ctr"/>
            <a:r>
              <a:rPr sz="1300" b="0">
                <a:solidFill>
                  <a:srgbClr val="5B6375"/>
                </a:solidFill>
                <a:latin typeface="DejaVu Sans"/>
              </a:rPr>
              <a:t>fallback · Windows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645920" y="2834640"/>
            <a:ext cx="0" cy="1097280"/>
          </a:xfrm>
          <a:prstGeom prst="line">
            <a:avLst/>
          </a:prstGeom>
          <a:ln w="25400">
            <a:solidFill>
              <a:srgbClr val="6D28D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097279" y="3291840"/>
            <a:ext cx="2926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5B6375"/>
                </a:solidFill>
                <a:latin typeface="DejaVu Sans"/>
              </a:rPr>
              <a:t>runs the workflow</a:t>
            </a:r>
          </a:p>
        </p:txBody>
      </p:sp>
      <p:cxnSp>
        <p:nvCxnSpPr>
          <p:cNvPr id="15" name="Connector 14"/>
          <p:cNvCxnSpPr/>
          <p:nvPr/>
        </p:nvCxnSpPr>
        <p:spPr>
          <a:xfrm flipV="1">
            <a:off x="2834640" y="3840480"/>
            <a:ext cx="1371600" cy="640080"/>
          </a:xfrm>
          <a:prstGeom prst="line">
            <a:avLst/>
          </a:prstGeom>
          <a:ln w="25400">
            <a:solidFill>
              <a:srgbClr val="6D28D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2240279" y="4434840"/>
            <a:ext cx="2926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5B6375"/>
                </a:solidFill>
                <a:latin typeface="DejaVu Sans"/>
              </a:rPr>
              <a:t>request per leg</a:t>
            </a:r>
          </a:p>
        </p:txBody>
      </p:sp>
      <p:cxnSp>
        <p:nvCxnSpPr>
          <p:cNvPr id="17" name="Connector 16"/>
          <p:cNvCxnSpPr/>
          <p:nvPr/>
        </p:nvCxnSpPr>
        <p:spPr>
          <a:xfrm flipV="1">
            <a:off x="7498079" y="1920240"/>
            <a:ext cx="1280161" cy="1371600"/>
          </a:xfrm>
          <a:prstGeom prst="line">
            <a:avLst/>
          </a:prstGeom>
          <a:ln w="25400">
            <a:solidFill>
              <a:srgbClr val="6D28D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675119" y="2194560"/>
            <a:ext cx="2926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5B6375"/>
                </a:solidFill>
                <a:latin typeface="DejaVu Sans"/>
              </a:rPr>
              <a:t>claim / lease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498079" y="3566160"/>
            <a:ext cx="1280161" cy="0"/>
          </a:xfrm>
          <a:prstGeom prst="line">
            <a:avLst/>
          </a:prstGeom>
          <a:ln w="25400">
            <a:solidFill>
              <a:srgbClr val="6D28D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7498079" y="4023360"/>
            <a:ext cx="1280161" cy="1188720"/>
          </a:xfrm>
          <a:prstGeom prst="line">
            <a:avLst/>
          </a:prstGeom>
          <a:ln w="25400">
            <a:solidFill>
              <a:srgbClr val="6D28D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5989319" y="4800600"/>
            <a:ext cx="2926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5B6375"/>
                </a:solidFill>
                <a:latin typeface="DejaVu Sans"/>
              </a:rPr>
              <a:t>nobody took 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80644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B6375"/>
                </a:solidFill>
                <a:latin typeface="DejaVu Sans"/>
              </a:rPr>
              <a:t>Nodes verify the token against GitHub's public keys, rank themselves (rendezvous hash), claim, run .octopus/ci.sh, and stream the log back. The submit job prints it and gates the PR.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09728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6D28D9"/>
                </a:solidFill>
                <a:latin typeface="DejaVu Sans"/>
              </a:rPr>
              <a:t>TRUST AND SECURITY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1B1F2A"/>
                </a:solidFill>
                <a:latin typeface="DejaVu Sans"/>
              </a:rPr>
              <a:t>Who may run what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B6375"/>
                </a:solidFill>
                <a:latin typeface="DejaVu Sans"/>
              </a:rPr>
              <a:t>Octopus · Logos Messaging Offsite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B6375"/>
                </a:solidFill>
                <a:latin typeface="DejaVu Sans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566928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20040" indent="-320040">
              <a:spcAft>
                <a:spcPts val="1000"/>
              </a:spcAft>
            </a:pPr>
            <a:r>
              <a:rPr sz="1900" b="0">
                <a:solidFill>
                  <a:srgbClr val="1B1F2A"/>
                </a:solidFill>
                <a:latin typeface="DejaVu Sans"/>
              </a:rPr>
              <a:t>•	Every request carries a GitHub OIDC token</a:t>
            </a:r>
          </a:p>
          <a:p>
            <a:pPr algn="l" marL="685800" indent="-274320">
              <a:spcAft>
                <a:spcPts val="1000"/>
              </a:spcAft>
            </a:pPr>
            <a:r>
              <a:rPr sz="1600" b="0">
                <a:solidFill>
                  <a:srgbClr val="5B6375"/>
                </a:solidFill>
                <a:latin typeface="DejaVu Sans"/>
              </a:rPr>
              <a:t>–	checked against GitHub's public keys; one-time use</a:t>
            </a:r>
          </a:p>
          <a:p>
            <a:pPr algn="l" marL="685800" indent="-274320">
              <a:spcAft>
                <a:spcPts val="1000"/>
              </a:spcAft>
            </a:pPr>
            <a:r>
              <a:rPr sz="1600" b="0">
                <a:solidFill>
                  <a:srgbClr val="5B6375"/>
                </a:solidFill>
                <a:latin typeface="DejaVu Sans"/>
              </a:rPr>
              <a:t>–	pinned workflow, allowed repo, no fork PRs</a:t>
            </a:r>
          </a:p>
          <a:p>
            <a:pPr algn="l" marL="320040" indent="-320040">
              <a:spcAft>
                <a:spcPts val="1000"/>
              </a:spcAft>
            </a:pPr>
            <a:r>
              <a:rPr sz="1900" b="0">
                <a:solidFill>
                  <a:srgbClr val="1B1F2A"/>
                </a:solidFill>
                <a:latin typeface="DejaVu Sans"/>
              </a:rPr>
              <a:t>•	Team membership is a signed chain</a:t>
            </a:r>
          </a:p>
          <a:p>
            <a:pPr algn="l" marL="685800" indent="-274320">
              <a:spcAft>
                <a:spcPts val="1000"/>
              </a:spcAft>
            </a:pPr>
            <a:r>
              <a:rPr sz="1600" b="0">
                <a:solidFill>
                  <a:srgbClr val="5B6375"/>
                </a:solidFill>
                <a:latin typeface="DejaVu Sans"/>
              </a:rPr>
              <a:t>–	team key → member list (GitHub logins, per repo/org)</a:t>
            </a:r>
          </a:p>
          <a:p>
            <a:pPr algn="l" marL="685800" indent="-274320">
              <a:spcAft>
                <a:spcPts val="1000"/>
              </a:spcAft>
            </a:pPr>
            <a:r>
              <a:rPr sz="1600" b="0">
                <a:solidFill>
                  <a:srgbClr val="5B6375"/>
                </a:solidFill>
                <a:latin typeface="DejaVu Sans"/>
              </a:rPr>
              <a:t>–	→ SSH signature of each node, checked on github.com/&lt;login&gt;.keys</a:t>
            </a:r>
          </a:p>
          <a:p>
            <a:pPr algn="l" marL="320040" indent="-320040">
              <a:spcAft>
                <a:spcPts val="1000"/>
              </a:spcAft>
            </a:pPr>
            <a:r>
              <a:rPr sz="1900" b="0">
                <a:solidFill>
                  <a:srgbClr val="1B1F2A"/>
                </a:solidFill>
                <a:latin typeface="DejaVu Sans"/>
              </a:rPr>
              <a:t>•	No admin token on any server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554480"/>
            <a:ext cx="548640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20040" indent="-320040">
              <a:spcAft>
                <a:spcPts val="1000"/>
              </a:spcAft>
            </a:pPr>
            <a:r>
              <a:rPr sz="1900" b="0">
                <a:solidFill>
                  <a:srgbClr val="1B1F2A"/>
                </a:solidFill>
                <a:latin typeface="DejaVu Sans"/>
              </a:rPr>
              <a:t>•	Jobs can run in a throwaway container</a:t>
            </a:r>
          </a:p>
          <a:p>
            <a:pPr algn="l" marL="685800" indent="-274320">
              <a:spcAft>
                <a:spcPts val="1000"/>
              </a:spcAft>
            </a:pPr>
            <a:r>
              <a:rPr sz="1600" b="0">
                <a:solidFill>
                  <a:srgbClr val="5B6375"/>
                </a:solidFill>
                <a:latin typeface="DejaVu Sans"/>
              </a:rPr>
              <a:t>–	sees only the checkout; no gh login, SSH keys or home</a:t>
            </a:r>
          </a:p>
          <a:p>
            <a:pPr algn="l" marL="685800" indent="-274320">
              <a:spcAft>
                <a:spcPts val="1000"/>
              </a:spcAft>
            </a:pPr>
            <a:r>
              <a:rPr sz="1600" b="0">
                <a:solidFill>
                  <a:srgbClr val="5B6375"/>
                </a:solidFill>
                <a:latin typeface="DejaVu Sans"/>
              </a:rPr>
              <a:t>–	read-only root, no capabilities, resource limits</a:t>
            </a:r>
          </a:p>
          <a:p>
            <a:pPr algn="l" marL="320040" indent="-320040">
              <a:spcAft>
                <a:spcPts val="1000"/>
              </a:spcAft>
            </a:pPr>
            <a:r>
              <a:rPr sz="1900" b="0">
                <a:solidFill>
                  <a:srgbClr val="1B1F2A"/>
                </a:solidFill>
                <a:latin typeface="DejaVu Sans"/>
              </a:rPr>
              <a:t>•	Honest limits</a:t>
            </a:r>
          </a:p>
          <a:p>
            <a:pPr algn="l" marL="685800" indent="-274320">
              <a:spcAft>
                <a:spcPts val="1000"/>
              </a:spcAft>
            </a:pPr>
            <a:r>
              <a:rPr sz="1600" b="0">
                <a:solidFill>
                  <a:srgbClr val="5B6375"/>
                </a:solidFill>
                <a:latin typeface="DejaVu Sans"/>
              </a:rPr>
              <a:t>–	a member's machine is trusted to report the truth</a:t>
            </a:r>
          </a:p>
          <a:p>
            <a:pPr algn="l" marL="685800" indent="-274320">
              <a:spcAft>
                <a:spcPts val="1000"/>
              </a:spcAft>
            </a:pPr>
            <a:r>
              <a:rPr sz="1600" b="0">
                <a:solidFill>
                  <a:srgbClr val="5B6375"/>
                </a:solidFill>
                <a:latin typeface="DejaVu Sans"/>
              </a:rPr>
              <a:t>–	container on Linux only; macOS needs a VM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09728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6D28D9"/>
                </a:solidFill>
                <a:latin typeface="DejaVu Sans"/>
              </a:rPr>
              <a:t>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1B1F2A"/>
                </a:solidFill>
                <a:latin typeface="DejaVu Sans"/>
              </a:rPr>
              <a:t>Live 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B6375"/>
                </a:solidFill>
                <a:latin typeface="DejaVu Sans"/>
              </a:rPr>
              <a:t>Octopus · Logos Messaging Offsite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B6375"/>
                </a:solidFill>
                <a:latin typeface="DejaVu Sans"/>
              </a:rPr>
              <a:t>6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1508760"/>
            <a:ext cx="548640" cy="548640"/>
          </a:xfrm>
          <a:prstGeom prst="ellipse">
            <a:avLst/>
          </a:prstGeom>
          <a:solidFill>
            <a:srgbClr val="6D28D9"/>
          </a:solidFill>
          <a:ln w="15875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DejaVu Sans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1527048"/>
            <a:ext cx="4023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B1F2A"/>
                </a:solidFill>
                <a:latin typeface="DejaVu Sans Mono"/>
              </a:rPr>
              <a:t>octopus ci status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94960" y="1554480"/>
            <a:ext cx="6400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5B6375"/>
                </a:solidFill>
                <a:latin typeface="DejaVu Sans"/>
              </a:rPr>
              <a:t>this laptop's proof, team key and allowlist — its only setup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2286000"/>
            <a:ext cx="548640" cy="548640"/>
          </a:xfrm>
          <a:prstGeom prst="ellipse">
            <a:avLst/>
          </a:prstGeom>
          <a:solidFill>
            <a:srgbClr val="6D28D9"/>
          </a:solidFill>
          <a:ln w="15875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DejaVu Sans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2304288"/>
            <a:ext cx="4023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B1F2A"/>
                </a:solidFill>
                <a:latin typeface="DejaVu Sans Mono"/>
              </a:rPr>
              <a:t>git push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94960" y="2331720"/>
            <a:ext cx="6400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5B6375"/>
                </a:solidFill>
                <a:latin typeface="DejaVu Sans"/>
              </a:rPr>
              <a:t>a one-line change starts the workflow on GitHub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3063239"/>
            <a:ext cx="548640" cy="548640"/>
          </a:xfrm>
          <a:prstGeom prst="ellipse">
            <a:avLst/>
          </a:prstGeom>
          <a:solidFill>
            <a:srgbClr val="6D28D9"/>
          </a:solidFill>
          <a:ln w="15875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DejaVu Sans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3081527"/>
            <a:ext cx="4023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B1F2A"/>
                </a:solidFill>
                <a:latin typeface="DejaVu Sans Mono"/>
              </a:rPr>
              <a:t>submit job joins the fleet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94960" y="3108959"/>
            <a:ext cx="6400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5B6375"/>
                </a:solidFill>
                <a:latin typeface="DejaVu Sans"/>
              </a:rPr>
              <a:t>publishes one request per leg on Logos Delivery</a:t>
            </a:r>
          </a:p>
        </p:txBody>
      </p:sp>
      <p:sp>
        <p:nvSpPr>
          <p:cNvPr id="16" name="Oval 15"/>
          <p:cNvSpPr/>
          <p:nvPr/>
        </p:nvSpPr>
        <p:spPr>
          <a:xfrm>
            <a:off x="548640" y="3840479"/>
            <a:ext cx="548640" cy="548640"/>
          </a:xfrm>
          <a:prstGeom prst="ellipse">
            <a:avLst/>
          </a:prstGeom>
          <a:solidFill>
            <a:srgbClr val="6D28D9"/>
          </a:solidFill>
          <a:ln w="15875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DejaVu Sans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3858767"/>
            <a:ext cx="4023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B1F2A"/>
                </a:solidFill>
                <a:latin typeface="DejaVu Sans Mono"/>
              </a:rPr>
              <a:t>CI leg started 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94960" y="3886199"/>
            <a:ext cx="6400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5B6375"/>
                </a:solidFill>
                <a:latin typeface="DejaVu Sans"/>
              </a:rPr>
              <a:t>the laptop claims the macOS leg and runs .octopus/ci.sh</a:t>
            </a:r>
          </a:p>
        </p:txBody>
      </p:sp>
      <p:sp>
        <p:nvSpPr>
          <p:cNvPr id="19" name="Oval 18"/>
          <p:cNvSpPr/>
          <p:nvPr/>
        </p:nvSpPr>
        <p:spPr>
          <a:xfrm>
            <a:off x="548640" y="4617720"/>
            <a:ext cx="548640" cy="548640"/>
          </a:xfrm>
          <a:prstGeom prst="ellipse">
            <a:avLst/>
          </a:prstGeom>
          <a:solidFill>
            <a:srgbClr val="6D28D9"/>
          </a:solidFill>
          <a:ln w="15875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DejaVu Sans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25880" y="4636007"/>
            <a:ext cx="4023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B1F2A"/>
                </a:solidFill>
                <a:latin typeface="DejaVu Sans Mono"/>
              </a:rPr>
              <a:t>[macos] 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94960" y="4663440"/>
            <a:ext cx="6400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5B6375"/>
                </a:solidFill>
                <a:latin typeface="DejaVu Sans"/>
              </a:rPr>
              <a:t>its output streams live into the GitHub Actions log</a:t>
            </a:r>
          </a:p>
        </p:txBody>
      </p:sp>
      <p:sp>
        <p:nvSpPr>
          <p:cNvPr id="22" name="Oval 21"/>
          <p:cNvSpPr/>
          <p:nvPr/>
        </p:nvSpPr>
        <p:spPr>
          <a:xfrm>
            <a:off x="548640" y="5394960"/>
            <a:ext cx="548640" cy="548640"/>
          </a:xfrm>
          <a:prstGeom prst="ellipse">
            <a:avLst/>
          </a:prstGeom>
          <a:solidFill>
            <a:srgbClr val="6D28D9"/>
          </a:solidFill>
          <a:ln w="15875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DejaVu Sans"/>
              </a:rPr>
              <a:t>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25880" y="5413248"/>
            <a:ext cx="4023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B1F2A"/>
                </a:solidFill>
                <a:latin typeface="DejaVu Sans Mono"/>
              </a:rPr>
              <a:t>job summary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94960" y="5440680"/>
            <a:ext cx="6400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5B6375"/>
                </a:solidFill>
                <a:latin typeface="DejaVu Sans"/>
              </a:rPr>
              <a:t>macOS: this laptop · Linux: server node or hosted · Windows: hosted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09728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6D28D9"/>
                </a:solidFill>
                <a:latin typeface="DejaVu Sans"/>
              </a:rPr>
              <a:t>WHY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1B1F2A"/>
                </a:solidFill>
                <a:latin typeface="DejaVu Sans"/>
              </a:rPr>
              <a:t>What Logos Delivery gave 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B6375"/>
                </a:solidFill>
                <a:latin typeface="DejaVu Sans"/>
              </a:rPr>
              <a:t>Octopus · Logos Messaging Offsite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B6375"/>
                </a:solidFill>
                <a:latin typeface="DejaVu Sans"/>
              </a:rPr>
              <a:t>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45920"/>
            <a:ext cx="5394960" cy="1828800"/>
          </a:xfrm>
          <a:prstGeom prst="roundRect">
            <a:avLst/>
          </a:prstGeom>
          <a:solidFill>
            <a:srgbClr val="EDE9FE"/>
          </a:solidFill>
          <a:ln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82880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6D28D9"/>
                </a:solidFill>
                <a:latin typeface="DejaVu Sans"/>
              </a:rPr>
              <a:t>Reach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2377440"/>
            <a:ext cx="48463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1B1F2A"/>
                </a:solidFill>
                <a:latin typeface="DejaVu Sans"/>
              </a:rPr>
              <a:t>Nodes behind home NATs talk through the public fleet: no ports to open, no server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645920"/>
            <a:ext cx="5394960" cy="1828800"/>
          </a:xfrm>
          <a:prstGeom prst="roundRect">
            <a:avLst/>
          </a:prstGeom>
          <a:solidFill>
            <a:srgbClr val="EDE9FE"/>
          </a:solidFill>
          <a:ln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82880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6D28D9"/>
                </a:solidFill>
                <a:latin typeface="DejaVu Sans"/>
              </a:rPr>
              <a:t>Discovery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2377440"/>
            <a:ext cx="48463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1B1F2A"/>
                </a:solidFill>
                <a:latin typeface="DejaVu Sans"/>
              </a:rPr>
              <a:t>One pub/sub topic: machines announce, CI jobs ask, everyone hears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794760"/>
            <a:ext cx="5394960" cy="1828800"/>
          </a:xfrm>
          <a:prstGeom prst="roundRect">
            <a:avLst/>
          </a:prstGeom>
          <a:solidFill>
            <a:srgbClr val="EDE9FE"/>
          </a:solidFill>
          <a:ln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59" y="397764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6D28D9"/>
                </a:solidFill>
                <a:latin typeface="DejaVu Sans"/>
              </a:rPr>
              <a:t>Private channels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59" y="4526280"/>
            <a:ext cx="48463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1B1F2A"/>
                </a:solidFill>
                <a:latin typeface="DejaVu Sans"/>
              </a:rPr>
              <a:t>Reliable, end-to-end encrypted channels for results and live logs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3794760"/>
            <a:ext cx="5394960" cy="1828800"/>
          </a:xfrm>
          <a:prstGeom prst="roundRect">
            <a:avLst/>
          </a:prstGeom>
          <a:solidFill>
            <a:srgbClr val="EDE9FE"/>
          </a:solidFill>
          <a:ln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397764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6D28D9"/>
                </a:solidFill>
                <a:latin typeface="DejaVu Sans"/>
              </a:rPr>
              <a:t>Fast join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4526280"/>
            <a:ext cx="48463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1B1F2A"/>
                </a:solidFill>
                <a:latin typeface="DejaVu Sans"/>
              </a:rPr>
              <a:t>A fresh node joins the fleet and exchanges messages in about 4 seconds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09728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6D28D9"/>
                </a:solidFill>
                <a:latin typeface="DejaVu Sans"/>
              </a:rPr>
              <a:t>WHAT WE LEARNED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1B1F2A"/>
                </a:solidFill>
                <a:latin typeface="DejaVu Sans"/>
              </a:rPr>
              <a:t>We used it on itself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B6375"/>
                </a:solidFill>
                <a:latin typeface="DejaVu Sans"/>
              </a:rPr>
              <a:t>Octopus · Logos Messaging Offsite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B6375"/>
                </a:solidFill>
                <a:latin typeface="DejaVu Sans"/>
              </a:rP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576072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20040" indent="-320040">
              <a:spcAft>
                <a:spcPts val="1000"/>
              </a:spcAft>
            </a:pPr>
            <a:r>
              <a:rPr sz="1900" b="0">
                <a:solidFill>
                  <a:srgbClr val="1B1F2A"/>
                </a:solidFill>
                <a:latin typeface="DejaVu Sans"/>
              </a:rPr>
              <a:t>•	Octopus runs its own CI through Octopus</a:t>
            </a:r>
          </a:p>
          <a:p>
            <a:pPr algn="l" marL="320040" indent="-320040">
              <a:spcAft>
                <a:spcPts val="1000"/>
              </a:spcAft>
            </a:pPr>
            <a:r>
              <a:rPr sz="1900" b="0">
                <a:solidFill>
                  <a:srgbClr val="1B1F2A"/>
                </a:solidFill>
                <a:latin typeface="DejaVu Sans"/>
              </a:rPr>
              <a:t>•	We installed it as new users and filed what hurt</a:t>
            </a:r>
          </a:p>
          <a:p>
            <a:pPr algn="l" marL="320040" indent="-320040">
              <a:spcAft>
                <a:spcPts val="1000"/>
              </a:spcAft>
            </a:pPr>
            <a:r>
              <a:rPr sz="1900" b="0">
                <a:solidFill>
                  <a:srgbClr val="1B1F2A"/>
                </a:solidFill>
                <a:latin typeface="DejaVu Sans"/>
              </a:rPr>
              <a:t>•	Fixed during the hackathon:</a:t>
            </a:r>
          </a:p>
          <a:p>
            <a:pPr algn="l" marL="685800" indent="-274320">
              <a:spcAft>
                <a:spcPts val="1000"/>
              </a:spcAft>
            </a:pPr>
            <a:r>
              <a:rPr sz="1600" b="0">
                <a:solidFill>
                  <a:srgbClr val="5B6375"/>
                </a:solidFill>
                <a:latin typeface="DejaVu Sans"/>
              </a:rPr>
              <a:t>–	install ~9 min → under a minute (no submodule clones)</a:t>
            </a:r>
          </a:p>
          <a:p>
            <a:pPr algn="l" marL="685800" indent="-274320">
              <a:spcAft>
                <a:spcPts val="1000"/>
              </a:spcAft>
            </a:pPr>
            <a:r>
              <a:rPr sz="1600" b="0">
                <a:solidFill>
                  <a:srgbClr val="5B6375"/>
                </a:solidFill>
                <a:latin typeface="DejaVu Sans"/>
              </a:rPr>
              <a:t>–	library 279 MB → 68 MB (stripped)</a:t>
            </a:r>
          </a:p>
          <a:p>
            <a:pPr algn="l" marL="685800" indent="-274320">
              <a:spcAft>
                <a:spcPts val="1000"/>
              </a:spcAft>
            </a:pPr>
            <a:r>
              <a:rPr sz="1600" b="0">
                <a:solidFill>
                  <a:srgbClr val="5B6375"/>
                </a:solidFill>
                <a:latin typeface="DejaVu Sans"/>
              </a:rPr>
              <a:t>–	TRACE flood ~360 lines/s → INFO by default</a:t>
            </a:r>
          </a:p>
          <a:p>
            <a:pPr algn="l" marL="685800" indent="-274320">
              <a:spcAft>
                <a:spcPts val="1000"/>
              </a:spcAft>
            </a:pPr>
            <a:r>
              <a:rPr sz="1600" b="0">
                <a:solidFill>
                  <a:srgbClr val="5B6375"/>
                </a:solidFill>
                <a:latin typeface="DejaVu Sans"/>
              </a:rPr>
              <a:t>–	stop took 24 s → immediate</a:t>
            </a:r>
          </a:p>
          <a:p>
            <a:pPr algn="l" marL="685800" indent="-274320">
              <a:spcAft>
                <a:spcPts val="1000"/>
              </a:spcAft>
            </a:pPr>
            <a:r>
              <a:rPr sz="1600" b="0">
                <a:solidFill>
                  <a:srgbClr val="5B6375"/>
                </a:solidFill>
                <a:latin typeface="DejaVu Sans"/>
              </a:rPr>
              <a:t>–	clear errors for missing gh login and tokens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554480"/>
            <a:ext cx="548640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20040" indent="-320040">
              <a:spcAft>
                <a:spcPts val="1000"/>
              </a:spcAft>
            </a:pPr>
            <a:r>
              <a:rPr sz="1900" b="0">
                <a:solidFill>
                  <a:srgbClr val="1B1F2A"/>
                </a:solidFill>
                <a:latin typeface="DejaVu Sans"/>
              </a:rPr>
              <a:t>•	Still open:</a:t>
            </a:r>
          </a:p>
          <a:p>
            <a:pPr algn="l" marL="685800" indent="-274320">
              <a:spcAft>
                <a:spcPts val="1000"/>
              </a:spcAft>
            </a:pPr>
            <a:r>
              <a:rPr sz="1600" b="0">
                <a:solidFill>
                  <a:srgbClr val="5B6375"/>
                </a:solidFill>
                <a:latin typeface="DejaVu Sans"/>
              </a:rPr>
              <a:t>–	a node keeps ≤ 5 peers per IP (library limit)</a:t>
            </a:r>
          </a:p>
          <a:p>
            <a:pPr algn="l" marL="685800" indent="-274320">
              <a:spcAft>
                <a:spcPts val="1000"/>
              </a:spcAft>
            </a:pPr>
            <a:r>
              <a:rPr sz="1600" b="0">
                <a:solidFill>
                  <a:srgbClr val="5B6375"/>
                </a:solidFill>
                <a:latin typeface="DejaVu Sans"/>
              </a:rPr>
              <a:t>–	nightly end-to-end test needs its repo set up</a:t>
            </a:r>
          </a:p>
          <a:p>
            <a:pPr algn="l" marL="320040" indent="-320040">
              <a:spcAft>
                <a:spcPts val="1000"/>
              </a:spcAft>
            </a:pPr>
            <a:r>
              <a:rPr sz="1900" b="0">
                <a:solidFill>
                  <a:srgbClr val="1B1F2A"/>
                </a:solidFill>
                <a:latin typeface="DejaVu Sans"/>
              </a:rPr>
              <a:t>•	Three ways to use it, one CLI:</a:t>
            </a:r>
          </a:p>
          <a:p>
            <a:pPr algn="l" marL="685800" indent="-274320">
              <a:spcAft>
                <a:spcPts val="1000"/>
              </a:spcAft>
            </a:pPr>
            <a:r>
              <a:rPr sz="1600" b="0">
                <a:solidFill>
                  <a:srgbClr val="5B6375"/>
                </a:solidFill>
                <a:latin typeface="DejaVu Sans"/>
              </a:rPr>
              <a:t>–	octopus ci init — join the team CI</a:t>
            </a:r>
          </a:p>
          <a:p>
            <a:pPr algn="l" marL="685800" indent="-274320">
              <a:spcAft>
                <a:spcPts val="1000"/>
              </a:spcAft>
            </a:pPr>
            <a:r>
              <a:rPr sz="1600" b="0">
                <a:solidFill>
                  <a:srgbClr val="5B6375"/>
                </a:solidFill>
                <a:latin typeface="DejaVu Sans"/>
              </a:rPr>
              <a:t>–	octopus init — a plain runner for a repo</a:t>
            </a:r>
          </a:p>
          <a:p>
            <a:pPr algn="l" marL="685800" indent="-274320">
              <a:spcAft>
                <a:spcPts val="1000"/>
              </a:spcAft>
            </a:pPr>
            <a:r>
              <a:rPr sz="1600" b="0">
                <a:solidFill>
                  <a:srgbClr val="5B6375"/>
                </a:solidFill>
                <a:latin typeface="DejaVu Sans"/>
              </a:rPr>
              <a:t>–	coordinator mode — one-use JIT runners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09728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6D28D9"/>
                </a:solidFill>
                <a:latin typeface="DejaVu Sans"/>
              </a:rPr>
              <a:t>WHERE IT STANDS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1B1F2A"/>
                </a:solidFill>
                <a:latin typeface="DejaVu Sans"/>
              </a:rPr>
              <a:t>Status and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B6375"/>
                </a:solidFill>
                <a:latin typeface="DejaVu Sans"/>
              </a:rPr>
              <a:t>Octopus · Logos Messaging Offsite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B6375"/>
                </a:solidFill>
                <a:latin typeface="DejaVu Sans"/>
              </a:rPr>
              <a:t>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10972800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20040" indent="-320040">
              <a:spcAft>
                <a:spcPts val="1000"/>
              </a:spcAft>
            </a:pPr>
            <a:r>
              <a:rPr sz="2000" b="0">
                <a:solidFill>
                  <a:srgbClr val="1B1F2A"/>
                </a:solidFill>
                <a:latin typeface="DejaVu Sans"/>
              </a:rPr>
              <a:t>•	v0.4.0 released: pip wheel, prebuilt libraries for Linux x86_64 and macOS arm64</a:t>
            </a:r>
          </a:p>
          <a:p>
            <a:pPr algn="l" marL="320040" indent="-320040">
              <a:spcAft>
                <a:spcPts val="1000"/>
              </a:spcAft>
            </a:pPr>
            <a:r>
              <a:rPr sz="2000" b="0">
                <a:solidFill>
                  <a:srgbClr val="1B1F2A"/>
                </a:solidFill>
                <a:latin typeface="DejaVu Sans"/>
              </a:rPr>
              <a:t>•	octopus update upgrades a machine and restarts its service</a:t>
            </a:r>
          </a:p>
          <a:p>
            <a:pPr algn="l" marL="320040" indent="-320040">
              <a:spcAft>
                <a:spcPts val="1000"/>
              </a:spcAft>
            </a:pPr>
            <a:r>
              <a:rPr sz="2000" b="0">
                <a:solidFill>
                  <a:srgbClr val="1B1F2A"/>
                </a:solidFill>
                <a:latin typeface="DejaVu Sans"/>
              </a:rPr>
              <a:t>•	Next:</a:t>
            </a:r>
          </a:p>
          <a:p>
            <a:pPr algn="l" marL="685800" indent="-274320">
              <a:spcAft>
                <a:spcPts val="1000"/>
              </a:spcAft>
            </a:pPr>
            <a:r>
              <a:rPr sz="1700" b="0">
                <a:solidFill>
                  <a:srgbClr val="5B6375"/>
                </a:solidFill>
                <a:latin typeface="DejaVu Sans"/>
              </a:rPr>
              <a:t>–	“drivers”: GitHub today; GitLab or a plain “run this” later</a:t>
            </a:r>
          </a:p>
          <a:p>
            <a:pPr algn="l" marL="685800" indent="-274320">
              <a:spcAft>
                <a:spcPts val="1000"/>
              </a:spcAft>
            </a:pPr>
            <a:r>
              <a:rPr sz="1700" b="0">
                <a:solidFill>
                  <a:srgbClr val="5B6375"/>
                </a:solidFill>
                <a:latin typeface="DejaVu Sans"/>
              </a:rPr>
              <a:t>–	a macOS VM sandbox, like the Linux container</a:t>
            </a:r>
          </a:p>
          <a:p>
            <a:pPr algn="l" marL="685800" indent="-274320">
              <a:spcAft>
                <a:spcPts val="1000"/>
              </a:spcAft>
            </a:pPr>
            <a:r>
              <a:rPr sz="1700" b="0">
                <a:solidFill>
                  <a:srgbClr val="5B6375"/>
                </a:solidFill>
                <a:latin typeface="DejaVu Sans"/>
              </a:rPr>
              <a:t>–	more team machines, and measuring cost and speed against hosted runners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6000" b="1">
                <a:solidFill>
                  <a:srgbClr val="FFFFFF"/>
                </a:solidFill>
                <a:latin typeface="DejaVu Sans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20040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0">
                <a:solidFill>
                  <a:srgbClr val="EDE9FE"/>
                </a:solidFill>
                <a:latin typeface="DejaVu Sans Mono"/>
              </a:rPr>
              <a:t>github.com/logos-messaging/octopus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75488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FFFFFF"/>
                </a:solidFill>
                <a:latin typeface="DejaVu Sans"/>
              </a:rPr>
              <a:t>Fabiana Cecin  ·  Tanya Stubbs  ·  Ivan Folgueira Bande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